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7556500" cx="10693400"/>
  <p:notesSz cx="6858000" cy="9144000"/>
  <p:embeddedFontLst>
    <p:embeddedFont>
      <p:font typeface="Montserrat"/>
      <p:regular r:id="rId7"/>
      <p:bold r:id="rId8"/>
      <p:italic r:id="rId9"/>
      <p:boldItalic r:id="rId10"/>
    </p:embeddedFont>
    <p:embeddedFont>
      <p:font typeface="Lexend"/>
      <p:regular r:id="rId11"/>
      <p:bold r:id="rId12"/>
    </p:embeddedFont>
    <p:embeddedFont>
      <p:font typeface="Comfortaa Medium"/>
      <p:regular r:id="rId13"/>
      <p:bold r:id="rId14"/>
    </p:embeddedFont>
    <p:embeddedFont>
      <p:font typeface="Comfortaa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exend-regular.fntdata"/><Relationship Id="rId10" Type="http://schemas.openxmlformats.org/officeDocument/2006/relationships/font" Target="fonts/Montserrat-boldItalic.fntdata"/><Relationship Id="rId13" Type="http://schemas.openxmlformats.org/officeDocument/2006/relationships/font" Target="fonts/ComfortaaMedium-regular.fntdata"/><Relationship Id="rId12" Type="http://schemas.openxmlformats.org/officeDocument/2006/relationships/font" Target="fonts/Lexen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-italic.fntdata"/><Relationship Id="rId15" Type="http://schemas.openxmlformats.org/officeDocument/2006/relationships/font" Target="fonts/Comfortaa-regular.fntdata"/><Relationship Id="rId14" Type="http://schemas.openxmlformats.org/officeDocument/2006/relationships/font" Target="fonts/ComfortaaMedium-bold.fntdata"/><Relationship Id="rId16" Type="http://schemas.openxmlformats.org/officeDocument/2006/relationships/font" Target="fonts/Comforta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Montserrat-regular.fntdata"/><Relationship Id="rId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0692000" cy="7560000"/>
          </a:xfrm>
          <a:custGeom>
            <a:rect b="b" l="l" r="r" t="t"/>
            <a:pathLst>
              <a:path extrusionOk="0"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24086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 rot="-10203669">
            <a:off x="-3252142" y="-2864418"/>
            <a:ext cx="9210229" cy="8656073"/>
          </a:xfrm>
          <a:custGeom>
            <a:rect b="b" l="l" r="r" t="t"/>
            <a:pathLst>
              <a:path extrusionOk="0" h="10963150" w="10963150">
                <a:moveTo>
                  <a:pt x="0" y="0"/>
                </a:moveTo>
                <a:lnTo>
                  <a:pt x="10963150" y="0"/>
                </a:lnTo>
                <a:lnTo>
                  <a:pt x="10963150" y="10963150"/>
                </a:lnTo>
                <a:lnTo>
                  <a:pt x="0" y="109631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86" name="Google Shape;86;p13"/>
          <p:cNvCxnSpPr/>
          <p:nvPr/>
        </p:nvCxnSpPr>
        <p:spPr>
          <a:xfrm>
            <a:off x="7690755" y="6400920"/>
            <a:ext cx="2245200" cy="0"/>
          </a:xfrm>
          <a:prstGeom prst="straightConnector1">
            <a:avLst/>
          </a:prstGeom>
          <a:noFill/>
          <a:ln cap="flat" cmpd="sng" w="28575">
            <a:solidFill>
              <a:srgbClr val="5A199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" name="Google Shape;87;p13"/>
          <p:cNvCxnSpPr/>
          <p:nvPr/>
        </p:nvCxnSpPr>
        <p:spPr>
          <a:xfrm>
            <a:off x="4298475" y="4021250"/>
            <a:ext cx="6001500" cy="0"/>
          </a:xfrm>
          <a:prstGeom prst="straightConnector1">
            <a:avLst/>
          </a:prstGeom>
          <a:noFill/>
          <a:ln cap="flat" cmpd="sng" w="28575">
            <a:solidFill>
              <a:srgbClr val="5A199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8" name="Google Shape;88;p13"/>
          <p:cNvGrpSpPr/>
          <p:nvPr/>
        </p:nvGrpSpPr>
        <p:grpSpPr>
          <a:xfrm>
            <a:off x="0" y="0"/>
            <a:ext cx="2597203" cy="2024144"/>
            <a:chOff x="0" y="0"/>
            <a:chExt cx="3462937" cy="2698859"/>
          </a:xfrm>
        </p:grpSpPr>
        <p:sp>
          <p:nvSpPr>
            <p:cNvPr id="89" name="Google Shape;89;p13"/>
            <p:cNvSpPr/>
            <p:nvPr/>
          </p:nvSpPr>
          <p:spPr>
            <a:xfrm>
              <a:off x="0" y="0"/>
              <a:ext cx="3384671" cy="2698859"/>
            </a:xfrm>
            <a:custGeom>
              <a:rect b="b" l="l" r="r" t="t"/>
              <a:pathLst>
                <a:path extrusionOk="0" h="2698859" w="3384671">
                  <a:moveTo>
                    <a:pt x="0" y="0"/>
                  </a:moveTo>
                  <a:lnTo>
                    <a:pt x="3384671" y="0"/>
                  </a:lnTo>
                  <a:lnTo>
                    <a:pt x="3384671" y="2698859"/>
                  </a:lnTo>
                  <a:lnTo>
                    <a:pt x="0" y="26988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-125194" r="0" t="-182406"/>
              </a:stretch>
            </a:blipFill>
            <a:ln>
              <a:noFill/>
            </a:ln>
          </p:spPr>
        </p:sp>
        <p:sp>
          <p:nvSpPr>
            <p:cNvPr id="90" name="Google Shape;90;p13"/>
            <p:cNvSpPr txBox="1"/>
            <p:nvPr/>
          </p:nvSpPr>
          <p:spPr>
            <a:xfrm>
              <a:off x="1530037" y="2080706"/>
              <a:ext cx="1932900" cy="26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82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ADYPSOE</a:t>
              </a:r>
              <a:endParaRPr/>
            </a:p>
          </p:txBody>
        </p:sp>
      </p:grpSp>
      <p:sp>
        <p:nvSpPr>
          <p:cNvPr id="91" name="Google Shape;91;p13"/>
          <p:cNvSpPr/>
          <p:nvPr/>
        </p:nvSpPr>
        <p:spPr>
          <a:xfrm>
            <a:off x="207507" y="270382"/>
            <a:ext cx="892834" cy="485618"/>
          </a:xfrm>
          <a:custGeom>
            <a:rect b="b" l="l" r="r" t="t"/>
            <a:pathLst>
              <a:path extrusionOk="0" h="485618" w="892834">
                <a:moveTo>
                  <a:pt x="0" y="0"/>
                </a:moveTo>
                <a:lnTo>
                  <a:pt x="892834" y="0"/>
                </a:lnTo>
                <a:lnTo>
                  <a:pt x="892834" y="485618"/>
                </a:lnTo>
                <a:lnTo>
                  <a:pt x="0" y="4856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376849" l="0" r="-178520" t="-35209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>
            <a:off x="7423506" y="5500169"/>
            <a:ext cx="2779705" cy="900751"/>
          </a:xfrm>
          <a:custGeom>
            <a:rect b="b" l="l" r="r" t="t"/>
            <a:pathLst>
              <a:path extrusionOk="0" h="900751" w="2779705">
                <a:moveTo>
                  <a:pt x="0" y="0"/>
                </a:moveTo>
                <a:lnTo>
                  <a:pt x="2779705" y="0"/>
                </a:lnTo>
                <a:lnTo>
                  <a:pt x="2779705" y="900751"/>
                </a:lnTo>
                <a:lnTo>
                  <a:pt x="0" y="9007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7709" l="0" r="0" t="0"/>
            </a:stretch>
          </a:blipFill>
          <a:ln>
            <a:noFill/>
          </a:ln>
        </p:spPr>
      </p:sp>
      <p:sp>
        <p:nvSpPr>
          <p:cNvPr id="93" name="Google Shape;93;p13"/>
          <p:cNvSpPr txBox="1"/>
          <p:nvPr/>
        </p:nvSpPr>
        <p:spPr>
          <a:xfrm>
            <a:off x="4870875" y="917925"/>
            <a:ext cx="5265600" cy="7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7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40" u="none" cap="none" strike="noStrike">
                <a:solidFill>
                  <a:srgbClr val="5A1994"/>
                </a:solidFill>
                <a:latin typeface="Georgia"/>
                <a:ea typeface="Georgia"/>
                <a:cs typeface="Georgia"/>
                <a:sym typeface="Georgia"/>
              </a:rPr>
              <a:t>CERTIFICATE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7988656" y="1607326"/>
            <a:ext cx="21477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1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78" u="none" cap="none" strike="noStrike">
                <a:solidFill>
                  <a:srgbClr val="5A1994"/>
                </a:solidFill>
                <a:latin typeface="Georgia"/>
                <a:ea typeface="Georgia"/>
                <a:cs typeface="Georgia"/>
                <a:sym typeface="Georgia"/>
              </a:rPr>
              <a:t>of Participation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4240575" y="4139600"/>
            <a:ext cx="60594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78" u="none" cap="none" strike="noStrike">
                <a:solidFill>
                  <a:srgbClr val="5A1994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In recognition of your active participation and enthusiastic</a:t>
            </a:r>
            <a:r>
              <a:rPr i="1" lang="en-US" sz="1478">
                <a:solidFill>
                  <a:srgbClr val="5A1994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 </a:t>
            </a:r>
            <a:r>
              <a:rPr i="1" lang="en-US" sz="1478" u="none" cap="none" strike="noStrike">
                <a:solidFill>
                  <a:srgbClr val="5A1994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involvement in the AWS Expert session</a:t>
            </a:r>
            <a:endParaRPr i="1" sz="1478" u="none" cap="none" strike="noStrike">
              <a:solidFill>
                <a:srgbClr val="5A1994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478">
              <a:solidFill>
                <a:srgbClr val="5A199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478" u="none" cap="none" strike="noStrike">
                <a:solidFill>
                  <a:srgbClr val="5A1994"/>
                </a:solidFill>
                <a:latin typeface="Lexend"/>
                <a:ea typeface="Lexend"/>
                <a:cs typeface="Lexend"/>
                <a:sym typeface="Lexend"/>
              </a:rPr>
              <a:t>FROM LOCALHOST TO CLOUD</a:t>
            </a:r>
            <a:r>
              <a:rPr b="1" i="0" lang="en-US" sz="1478" u="none" cap="none" strike="noStrike">
                <a:solidFill>
                  <a:srgbClr val="5A1994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0" lang="en-US" sz="1478" u="none" cap="none" strike="noStrike">
                <a:solidFill>
                  <a:srgbClr val="5A1994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held on </a:t>
            </a:r>
            <a:r>
              <a:rPr i="0" lang="en-US" sz="1478" u="sng" cap="none" strike="noStrike">
                <a:solidFill>
                  <a:srgbClr val="5A1994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26th Feb 2026</a:t>
            </a:r>
            <a:endParaRPr sz="1300"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marR="0" rtl="0" algn="r">
              <a:lnSpc>
                <a:spcPct val="129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78" u="sng" cap="none" strike="noStrike">
              <a:solidFill>
                <a:srgbClr val="5A19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5528375" y="2431175"/>
            <a:ext cx="46080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1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778">
                <a:solidFill>
                  <a:srgbClr val="5A1994"/>
                </a:solidFill>
                <a:latin typeface="Comfortaa"/>
                <a:ea typeface="Comfortaa"/>
                <a:cs typeface="Comfortaa"/>
                <a:sym typeface="Comfortaa"/>
              </a:rPr>
              <a:t>T</a:t>
            </a:r>
            <a:r>
              <a:rPr i="1" lang="en-US" sz="1778" u="none" cap="none" strike="noStrike">
                <a:solidFill>
                  <a:srgbClr val="5A1994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his </a:t>
            </a:r>
            <a:r>
              <a:rPr i="1" lang="en-US" sz="1778">
                <a:solidFill>
                  <a:srgbClr val="5A1994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C</a:t>
            </a:r>
            <a:r>
              <a:rPr i="1" lang="en-US" sz="1778" u="none" cap="none" strike="noStrike">
                <a:solidFill>
                  <a:srgbClr val="5A1994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ertificate is </a:t>
            </a:r>
            <a:r>
              <a:rPr i="1" lang="en-US" sz="1778">
                <a:solidFill>
                  <a:srgbClr val="5A1994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P</a:t>
            </a:r>
            <a:r>
              <a:rPr i="1" lang="en-US" sz="1778" u="none" cap="none" strike="noStrike">
                <a:solidFill>
                  <a:srgbClr val="5A1994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roudly </a:t>
            </a:r>
            <a:r>
              <a:rPr i="1" lang="en-US" sz="1778">
                <a:solidFill>
                  <a:srgbClr val="5A1994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P</a:t>
            </a:r>
            <a:r>
              <a:rPr i="1" lang="en-US" sz="1778" u="none" cap="none" strike="noStrike">
                <a:solidFill>
                  <a:srgbClr val="5A1994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resented to</a:t>
            </a:r>
            <a:endParaRPr i="1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7238685" y="6626136"/>
            <a:ext cx="3149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A1994"/>
                </a:solidFill>
                <a:latin typeface="Comfortaa"/>
                <a:ea typeface="Comfortaa"/>
                <a:cs typeface="Comfortaa"/>
                <a:sym typeface="Comfortaa"/>
              </a:rPr>
              <a:t>Community Program Manager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7694892" y="6900261"/>
            <a:ext cx="2245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50" u="none" cap="none" strike="noStrike">
                <a:solidFill>
                  <a:srgbClr val="5A1994"/>
                </a:solidFill>
                <a:latin typeface="Montserrat"/>
                <a:ea typeface="Montserrat"/>
                <a:cs typeface="Montserrat"/>
                <a:sym typeface="Montserrat"/>
              </a:rPr>
              <a:t>AWS CLOUD CLUBS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3222150" y="3490750"/>
            <a:ext cx="69429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7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54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{{name}}</a:t>
            </a:r>
            <a:endParaRPr b="1" i="1" sz="1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